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57" r:id="rId5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13"/>
  </p:normalViewPr>
  <p:slideViewPr>
    <p:cSldViewPr snapToGrid="0" showGuides="1">
      <p:cViewPr>
        <p:scale>
          <a:sx n="109" d="100"/>
          <a:sy n="109" d="100"/>
        </p:scale>
        <p:origin x="1224" y="144"/>
      </p:cViewPr>
      <p:guideLst>
        <p:guide orient="horz" pos="217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5DFA5-605C-BE4A-8613-6C24B7EE3A5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FF791-BE01-EE46-978B-83C8FB496E3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Cyclone Gabrielle, 821 flights cancelled and 49,000 passengers are impacted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F791-BE01-EE46-978B-83C8FB496E3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F791-BE01-EE46-978B-83C8FB496E3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DDC0D92-299F-46FB-BF81-097331343DAF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ED467-BBDB-5F44-9864-3477DD27741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DB2A22-FD51-084F-837E-22101F6336C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72255-DE30-4E75-8103-9D6FF5680B8A}" type="datetimeFigureOut">
              <a:rPr/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C0D92-299F-46FB-BF81-097331343DAF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AirAssist demo" descr="AirAssist functional app demonstration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Body background"/>
          <p:cNvSpPr/>
          <p:nvPr/>
        </p:nvSpPr>
        <p:spPr>
          <a:xfrm>
            <a:off x="0" y="1280160"/>
            <a:ext cx="12192000" cy="55778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Header band" descr="head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295400"/>
          </a:xfrm>
          <a:prstGeom prst="rect">
            <a:avLst/>
          </a:prstGeom>
        </p:spPr>
      </p:pic>
      <p:sp>
        <p:nvSpPr>
          <p:cNvPr id="13" name="Card today"/>
          <p:cNvSpPr/>
          <p:nvPr/>
        </p:nvSpPr>
        <p:spPr>
          <a:xfrm>
            <a:off x="310896" y="1536192"/>
            <a:ext cx="2395728" cy="40965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1700784"/>
            <a:ext cx="2029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300">
                <a:solidFill>
                  <a:srgbClr val="5B6B7C"/>
                </a:solidFill>
                <a:latin typeface="Arial" panose="020B0604020202090204"/>
              </a:rPr>
              <a:t>TODAY</a:t>
            </a:r>
            <a:endParaRPr sz="800" b="0" spc="300">
              <a:solidFill>
                <a:srgbClr val="5B6B7C"/>
              </a:solidFill>
              <a:latin typeface="Arial" panose="020B0604020202090204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93776" y="2194560"/>
            <a:ext cx="2029968" cy="0"/>
          </a:xfrm>
          <a:prstGeom prst="line">
            <a:avLst/>
          </a:prstGeom>
          <a:ln w="9525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3776" y="2286000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B1B2B"/>
                </a:solidFill>
                <a:latin typeface="Arial" panose="020B0604020202090204"/>
              </a:rPr>
              <a:t>2–3%</a:t>
            </a:r>
            <a:endParaRPr sz="2200" b="0">
              <a:solidFill>
                <a:srgbClr val="0B1B2B"/>
              </a:solidFill>
              <a:latin typeface="Arial" panose="020B060402020209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6" y="2670048"/>
            <a:ext cx="2029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B1B2B"/>
                </a:solidFill>
                <a:latin typeface="Arial" panose="020B0604020202090204"/>
              </a:rPr>
              <a:t>FLIGHTS CANCELLED · ~400K PAX / YR</a:t>
            </a:r>
            <a:endParaRPr sz="750" b="0">
              <a:solidFill>
                <a:srgbClr val="0B1B2B"/>
              </a:solidFill>
              <a:latin typeface="Arial" panose="020B06040202020902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93776" y="2926080"/>
            <a:ext cx="2029968" cy="0"/>
          </a:xfrm>
          <a:prstGeom prst="line">
            <a:avLst/>
          </a:prstGeom>
          <a:ln w="9525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3776" y="3017520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0B1B2B"/>
                </a:solidFill>
                <a:latin typeface="Arial" panose="020B0604020202090204"/>
              </a:rPr>
              <a:t>22 min</a:t>
            </a:r>
            <a:endParaRPr sz="2200" b="0">
              <a:solidFill>
                <a:srgbClr val="0B1B2B"/>
              </a:solidFill>
              <a:latin typeface="Arial" panose="020B060402020209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93776" y="3401568"/>
            <a:ext cx="2029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B1B2B"/>
                </a:solidFill>
                <a:latin typeface="Arial" panose="020B0604020202090204"/>
              </a:rPr>
              <a:t>AVG PHONE WAIT (2020)</a:t>
            </a:r>
            <a:endParaRPr sz="750" b="0">
              <a:solidFill>
                <a:srgbClr val="0B1B2B"/>
              </a:solidFill>
              <a:latin typeface="Arial" panose="020B060402020209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93776" y="3657600"/>
            <a:ext cx="2029968" cy="0"/>
          </a:xfrm>
          <a:prstGeom prst="line">
            <a:avLst/>
          </a:prstGeom>
          <a:ln w="9525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93776" y="3749039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B4671E"/>
                </a:solidFill>
                <a:latin typeface="Arial" panose="020B0604020202090204"/>
              </a:rPr>
              <a:t>90+ min</a:t>
            </a:r>
            <a:endParaRPr sz="2200" b="0">
              <a:solidFill>
                <a:srgbClr val="B4671E"/>
              </a:solidFill>
              <a:latin typeface="Arial" panose="020B060402020209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93776" y="4133087"/>
            <a:ext cx="2029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B1B2B"/>
                </a:solidFill>
                <a:latin typeface="Arial" panose="020B0604020202090204"/>
              </a:rPr>
              <a:t>PEAK WAIT IN A DISRUPTION (2020)</a:t>
            </a:r>
            <a:endParaRPr sz="750" b="0">
              <a:solidFill>
                <a:srgbClr val="0B1B2B"/>
              </a:solidFill>
              <a:latin typeface="Arial" panose="020B0604020202090204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493776" y="4389120"/>
            <a:ext cx="2029968" cy="0"/>
          </a:xfrm>
          <a:prstGeom prst="line">
            <a:avLst/>
          </a:prstGeom>
          <a:ln w="9525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3776" y="4480559"/>
            <a:ext cx="20299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B4671E"/>
                </a:solidFill>
                <a:latin typeface="Arial" panose="020B0604020202090204"/>
              </a:rPr>
              <a:t>~2 weeks</a:t>
            </a:r>
            <a:endParaRPr sz="2200" b="0">
              <a:solidFill>
                <a:srgbClr val="B4671E"/>
              </a:solidFill>
              <a:latin typeface="Arial" panose="020B060402020209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776" y="4864607"/>
            <a:ext cx="20299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0B1B2B"/>
                </a:solidFill>
                <a:latin typeface="Arial" panose="020B0604020202090204"/>
              </a:rPr>
              <a:t>REFUND COMPLETION (ASSUMPTION)</a:t>
            </a:r>
            <a:endParaRPr sz="750" b="0">
              <a:solidFill>
                <a:srgbClr val="0B1B2B"/>
              </a:solidFill>
              <a:latin typeface="Arial" panose="020B0604020202090204"/>
            </a:endParaRPr>
          </a:p>
        </p:txBody>
      </p:sp>
      <p:sp>
        <p:nvSpPr>
          <p:cNvPr id="29" name="Card value"/>
          <p:cNvSpPr/>
          <p:nvPr/>
        </p:nvSpPr>
        <p:spPr>
          <a:xfrm>
            <a:off x="2852928" y="1536192"/>
            <a:ext cx="6035040" cy="4096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81528" y="1700784"/>
            <a:ext cx="5577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300">
                <a:solidFill>
                  <a:srgbClr val="5B6B7C"/>
                </a:solidFill>
                <a:latin typeface="Arial" panose="020B0604020202090204"/>
              </a:rPr>
              <a:t>APP VALUE</a:t>
            </a:r>
            <a:endParaRPr sz="800" b="0" spc="300">
              <a:solidFill>
                <a:srgbClr val="5B6B7C"/>
              </a:solidFill>
              <a:latin typeface="Arial" panose="020B0604020202090204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3081528" y="2194560"/>
            <a:ext cx="5577839" cy="0"/>
          </a:xfrm>
          <a:prstGeom prst="line">
            <a:avLst/>
          </a:prstGeom>
          <a:ln w="9525">
            <a:solidFill>
              <a:srgbClr val="D5DD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081528" y="2304288"/>
            <a:ext cx="5577840" cy="512064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36976" y="2304288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4804A"/>
                </a:solidFill>
                <a:latin typeface="Arial" panose="020B0604020202090204"/>
              </a:rPr>
              <a:t>70%</a:t>
            </a:r>
            <a:endParaRPr sz="2000" b="1">
              <a:solidFill>
                <a:srgbClr val="14804A"/>
              </a:solidFill>
              <a:latin typeface="Arial" panose="020B060402020209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64608" y="2505583"/>
            <a:ext cx="3657599" cy="146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B1B2B"/>
                </a:solidFill>
                <a:latin typeface="Arial" panose="020B0604020202090204"/>
              </a:rPr>
              <a:t>SELF-SERVICE </a:t>
            </a:r>
            <a:endParaRPr sz="700" b="0">
              <a:solidFill>
                <a:srgbClr val="5B6B7C"/>
              </a:solidFill>
              <a:latin typeface="Arial" panose="020B060402020209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081528" y="2889504"/>
            <a:ext cx="5577840" cy="51206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36976" y="2889504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4804A"/>
                </a:solidFill>
                <a:latin typeface="Arial" panose="020B0604020202090204"/>
              </a:rPr>
              <a:t>111K</a:t>
            </a:r>
            <a:endParaRPr sz="2000" b="0">
              <a:solidFill>
                <a:srgbClr val="14804A"/>
              </a:solidFill>
              <a:latin typeface="Arial" panose="020B060402020209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64608" y="3037142"/>
            <a:ext cx="3657599" cy="2533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B1B2B"/>
                </a:solidFill>
                <a:latin typeface="Arial" panose="020B0604020202090204"/>
              </a:rPr>
              <a:t>CASES MOVED FROM COUNTER / PHONE TO APP</a:t>
            </a:r>
            <a:endParaRPr sz="950" b="0">
              <a:solidFill>
                <a:srgbClr val="0B1B2B"/>
              </a:solidFill>
              <a:latin typeface="Arial" panose="020B0604020202090204"/>
            </a:endParaRPr>
          </a:p>
          <a:p>
            <a:pPr algn="l"/>
            <a:endParaRPr sz="700" b="0">
              <a:solidFill>
                <a:srgbClr val="5B6B7C"/>
              </a:solidFill>
              <a:latin typeface="Arial" panose="020B060402020209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081528" y="3474720"/>
            <a:ext cx="5577840" cy="51206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36976" y="3474720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4804A"/>
                </a:solidFill>
                <a:latin typeface="Arial" panose="020B0604020202090204"/>
              </a:rPr>
              <a:t>22,300</a:t>
            </a:r>
            <a:endParaRPr sz="2000" b="0">
              <a:solidFill>
                <a:srgbClr val="14804A"/>
              </a:solidFill>
              <a:latin typeface="Arial" panose="020B060402020209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852035" y="3666808"/>
            <a:ext cx="3783330" cy="138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900" cap="all">
                <a:solidFill>
                  <a:srgbClr val="0B1B2B"/>
                </a:solidFill>
                <a:uFillTx/>
                <a:latin typeface="Arial" panose="020B0604020202090204"/>
                <a:sym typeface="+mn-ea"/>
              </a:rPr>
              <a:t> </a:t>
            </a:r>
            <a:r>
              <a:rPr sz="900" cap="all">
                <a:solidFill>
                  <a:srgbClr val="0B1B2B"/>
                </a:solidFill>
                <a:uFillTx/>
                <a:latin typeface="Arial" panose="020B0604020202090204"/>
                <a:sym typeface="+mn-ea"/>
              </a:rPr>
              <a:t>staff hours saved / yr</a:t>
            </a:r>
            <a:endParaRPr sz="900" cap="all">
              <a:solidFill>
                <a:srgbClr val="0B1B2B"/>
              </a:solidFill>
              <a:uFillTx/>
              <a:latin typeface="Arial" panose="020B0604020202090204"/>
              <a:sym typeface="+mn-ea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3081528" y="4059936"/>
            <a:ext cx="5577840" cy="512064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36976" y="4059936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>
                <a:solidFill>
                  <a:srgbClr val="14804A"/>
                </a:solidFill>
                <a:latin typeface="Arial" panose="020B0604020202090204"/>
              </a:rPr>
              <a:t>37,000</a:t>
            </a:r>
            <a:endParaRPr sz="2000" b="0">
              <a:solidFill>
                <a:srgbClr val="14804A"/>
              </a:solidFill>
              <a:latin typeface="Arial" panose="020B0604020202090204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864608" y="4188206"/>
            <a:ext cx="3657599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l">
              <a:buClrTx/>
              <a:buSzTx/>
              <a:buFontTx/>
            </a:pPr>
            <a:r>
              <a:rPr sz="950">
                <a:solidFill>
                  <a:srgbClr val="0B1B2B"/>
                </a:solidFill>
                <a:latin typeface="Arial" panose="020B0604020202090204"/>
                <a:sym typeface="+mn-ea"/>
              </a:rPr>
              <a:t>waiting hours </a:t>
            </a:r>
            <a:r>
              <a:rPr sz="900" cap="all">
                <a:solidFill>
                  <a:srgbClr val="0B1B2B"/>
                </a:solidFill>
                <a:uFillTx/>
                <a:latin typeface="Arial" panose="020B0604020202090204"/>
                <a:sym typeface="+mn-ea"/>
              </a:rPr>
              <a:t>saved </a:t>
            </a:r>
            <a:r>
              <a:rPr sz="950">
                <a:solidFill>
                  <a:srgbClr val="0B1B2B"/>
                </a:solidFill>
                <a:latin typeface="Arial" panose="020B0604020202090204"/>
                <a:sym typeface="+mn-ea"/>
              </a:rPr>
              <a:t>/ yr</a:t>
            </a:r>
            <a:endParaRPr sz="950">
              <a:solidFill>
                <a:srgbClr val="0B1B2B"/>
              </a:solidFill>
              <a:latin typeface="Arial" panose="020B0604020202090204"/>
              <a:sym typeface="+mn-ea"/>
            </a:endParaRPr>
          </a:p>
          <a:p>
            <a:pPr lvl="0" algn="l">
              <a:buClrTx/>
              <a:buSzTx/>
              <a:buFontTx/>
            </a:pPr>
            <a:endParaRPr sz="950">
              <a:solidFill>
                <a:srgbClr val="0B1B2B"/>
              </a:solidFill>
              <a:latin typeface="Arial" panose="020B0604020202090204"/>
              <a:sym typeface="+mn-ea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081528" y="4645152"/>
            <a:ext cx="5577840" cy="512064"/>
          </a:xfrm>
          <a:prstGeom prst="roundRect">
            <a:avLst>
              <a:gd name="adj" fmla="val 12000"/>
            </a:avLst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36976" y="4645152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4804A"/>
                </a:solidFill>
                <a:latin typeface="Arial" panose="020B0604020202090204"/>
              </a:rPr>
              <a:t>NZ$0.7–2.2M</a:t>
            </a:r>
            <a:endParaRPr sz="1700" b="1">
              <a:solidFill>
                <a:srgbClr val="14804A"/>
              </a:solidFill>
              <a:latin typeface="Arial" panose="020B0604020202090204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64608" y="4792790"/>
            <a:ext cx="3657599" cy="2533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>
                <a:solidFill>
                  <a:srgbClr val="0B1B2B"/>
                </a:solidFill>
                <a:highlight>
                  <a:srgbClr val="FFFF00"/>
                </a:highlight>
                <a:latin typeface="Arial" panose="020B0604020202090204"/>
              </a:rPr>
              <a:t>COST SAVED / YEAR</a:t>
            </a:r>
            <a:endParaRPr sz="950" b="0">
              <a:solidFill>
                <a:srgbClr val="0B1B2B"/>
              </a:solidFill>
              <a:highlight>
                <a:srgbClr val="FFFF00"/>
              </a:highlight>
              <a:latin typeface="Arial" panose="020B0604020202090204"/>
            </a:endParaRPr>
          </a:p>
          <a:p>
            <a:pPr algn="l"/>
            <a:endParaRPr sz="950" b="0">
              <a:solidFill>
                <a:srgbClr val="0B1B2B"/>
              </a:solidFill>
              <a:highlight>
                <a:srgbClr val="FFFF00"/>
              </a:highlight>
              <a:latin typeface="Arial" panose="020B0604020202090204"/>
            </a:endParaRPr>
          </a:p>
        </p:txBody>
      </p:sp>
      <p:sp>
        <p:nvSpPr>
          <p:cNvPr id="49" name="Card project"/>
          <p:cNvSpPr/>
          <p:nvPr/>
        </p:nvSpPr>
        <p:spPr>
          <a:xfrm>
            <a:off x="9034272" y="1536192"/>
            <a:ext cx="2843784" cy="4096512"/>
          </a:xfrm>
          <a:prstGeom prst="roundRect">
            <a:avLst>
              <a:gd name="adj" fmla="val 5000"/>
            </a:avLst>
          </a:prstGeom>
          <a:solidFill>
            <a:srgbClr val="1025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62872" y="2243709"/>
            <a:ext cx="23865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spc="300">
                <a:solidFill>
                  <a:srgbClr val="8FD8E8"/>
                </a:solidFill>
                <a:latin typeface="Arial" panose="020B0604020202090204"/>
              </a:rPr>
              <a:t>PROJECT</a:t>
            </a:r>
            <a:endParaRPr sz="800" b="0" spc="300">
              <a:solidFill>
                <a:srgbClr val="8FD8E8"/>
              </a:solidFill>
              <a:latin typeface="Arial" panose="020B0604020202090204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262872" y="2536316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rial" panose="020B0604020202090204"/>
              </a:rPr>
              <a:t>NZ$90k</a:t>
            </a:r>
            <a:endParaRPr sz="2600" b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262872" y="2975229"/>
            <a:ext cx="23865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C9D6E2"/>
                </a:solidFill>
                <a:latin typeface="Arial" panose="020B0604020202090204"/>
              </a:rPr>
              <a:t>ESTIMATED BUILD COST (INDICATIVE)</a:t>
            </a:r>
            <a:endParaRPr sz="750" b="0">
              <a:solidFill>
                <a:srgbClr val="C9D6E2"/>
              </a:solidFill>
              <a:latin typeface="Arial" panose="020B0604020202090204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9262872" y="2724912"/>
            <a:ext cx="2386584" cy="0"/>
          </a:xfrm>
          <a:prstGeom prst="line">
            <a:avLst/>
          </a:prstGeom>
          <a:ln w="9525">
            <a:solidFill>
              <a:srgbClr val="2C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262872" y="3377564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7FE3C4"/>
                </a:solidFill>
                <a:latin typeface="Arial" panose="020B0604020202090204"/>
              </a:rPr>
              <a:t>&lt; 2 months</a:t>
            </a:r>
            <a:endParaRPr sz="2400" b="1">
              <a:solidFill>
                <a:srgbClr val="7FE3C4"/>
              </a:solidFill>
              <a:latin typeface="Arial" panose="020B060402020209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62872" y="3816477"/>
            <a:ext cx="23865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C9D6E2"/>
                </a:solidFill>
                <a:latin typeface="Arial" panose="020B0604020202090204"/>
              </a:rPr>
              <a:t>PAYBACK · BASE CASE, LABOUR ONLY</a:t>
            </a:r>
            <a:endParaRPr sz="750" b="0">
              <a:solidFill>
                <a:srgbClr val="C9D6E2"/>
              </a:solidFill>
              <a:latin typeface="Arial" panose="020B0604020202090204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9262872" y="3566160"/>
            <a:ext cx="2386584" cy="0"/>
          </a:xfrm>
          <a:prstGeom prst="line">
            <a:avLst/>
          </a:prstGeom>
          <a:ln w="9525">
            <a:solidFill>
              <a:srgbClr val="2C45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9262872" y="4218812"/>
            <a:ext cx="238658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Arial" panose="020B0604020202090204"/>
              </a:rPr>
              <a:t>20 weeks</a:t>
            </a:r>
            <a:endParaRPr sz="2400" b="0">
              <a:solidFill>
                <a:srgbClr val="FFFFFF"/>
              </a:solidFill>
              <a:latin typeface="Arial" panose="020B060402020209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262872" y="4657725"/>
            <a:ext cx="23865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C9D6E2"/>
                </a:solidFill>
                <a:latin typeface="Arial" panose="020B0604020202090204"/>
              </a:rPr>
              <a:t>PILOT TO PRODUCTION</a:t>
            </a:r>
            <a:endParaRPr sz="750" b="0">
              <a:solidFill>
                <a:srgbClr val="C9D6E2"/>
              </a:solidFill>
              <a:latin typeface="Arial" panose="020B0604020202090204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310896" y="5806440"/>
            <a:ext cx="1051560" cy="246888"/>
          </a:xfrm>
          <a:prstGeom prst="roundRect">
            <a:avLst>
              <a:gd name="adj" fmla="val 30000"/>
            </a:avLst>
          </a:prstGeom>
          <a:solidFill>
            <a:srgbClr val="00C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10896" y="5806440"/>
            <a:ext cx="105156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spc="150">
                <a:solidFill>
                  <a:srgbClr val="102538"/>
                </a:solidFill>
                <a:latin typeface="Arial" panose="020B0604020202090204"/>
              </a:rPr>
              <a:t>RESOLUTION</a:t>
            </a:r>
            <a:endParaRPr sz="750" b="1" spc="150">
              <a:solidFill>
                <a:srgbClr val="102538"/>
              </a:solidFill>
              <a:latin typeface="Arial" panose="020B0604020202090204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481328" y="5824728"/>
            <a:ext cx="10332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>
                <a:solidFill>
                  <a:srgbClr val="5B6B7C"/>
                </a:solidFill>
                <a:latin typeface="Arial" panose="020B0604020202090204"/>
              </a:rPr>
              <a:t>DEMO ESTIMATES — NOT MEASURED APP RESULTS  ·  BASELINE AND BENEFITS TO BE VALIDATED IN A PILOT WITH OPERATIONS DATA  ·  REFUND SETTLEMENT TIME NOT ASSUMED TO IMPROVE</a:t>
            </a:r>
            <a:endParaRPr sz="700" b="0">
              <a:solidFill>
                <a:srgbClr val="5B6B7C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Table 5"/>
          <p:cNvGraphicFramePr/>
          <p:nvPr/>
        </p:nvGraphicFramePr>
        <p:xfrm>
          <a:off x="106679" y="4817068"/>
          <a:ext cx="11978641" cy="132994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941296"/>
                <a:gridCol w="1767272"/>
                <a:gridCol w="1768659"/>
                <a:gridCol w="1768659"/>
                <a:gridCol w="1964096"/>
                <a:gridCol w="1768659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GROUPMEMBER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Yi Han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Xiao Lin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Zhuyi Xia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>
                          <a:latin typeface="Calibri"/>
                          <a:ea typeface="Calibri"/>
                          <a:cs typeface="Calibri"/>
                        </a:rPr>
                        <a:t>Zihang Zhang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Total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AutoNum type="arabicPeriod"/>
                      </a:pPr>
                      <a:r>
                        <a:rPr sz="2000"/>
                        <a:t>UPI: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yhan606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xlin031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zxia461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zahz503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 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sz="2000"/>
                        <a:t>2.  % Contribution: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25%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100%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sz="2000"/>
                        <a:t>3.  Comments: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/>
                        <a:t> </a:t>
                      </a:r>
                      <a:endParaRPr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Rectangle 2"/>
          <p:cNvSpPr>
            <a:spLocks noGrp="1"/>
          </p:cNvSpPr>
          <p:nvPr/>
        </p:nvSpPr>
        <p:spPr>
          <a:xfrm>
            <a:off x="91439" y="758182"/>
            <a:ext cx="11978641" cy="3252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40" tIns="126960" rIns="91440" bIns="45720" anchor="ctr">
            <a:spAutoFit/>
          </a:bodyPr>
          <a:lstStyle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rPr>
              <a:t>We take equal contribution in groupwork seriously, and marks may be deducted where there is a significant inequality in the team’s contribution. In the following table, state each group member’s contribution* to this assignment. You may also include any comments to support the % contribution indicated on the table.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*No contribution to the deliverable may result in a deduction of marks in the group assignment.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000" b="1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Criteria explanation: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sz="2000" b="1">
                <a:latin typeface="+mn-lt"/>
                <a:ea typeface="+mn-lt"/>
                <a:cs typeface="+mn-lt"/>
              </a:rPr>
              <a:t>1. </a:t>
            </a:r>
            <a:r>
              <a:rPr sz="2000" b="1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UPI:</a:t>
            </a:r>
            <a:r>
              <a:rPr sz="20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 Enter Team Member’s UPI.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sz="2000" b="1">
                <a:latin typeface="+mn-lt"/>
                <a:ea typeface="+mn-lt"/>
                <a:cs typeface="+mn-lt"/>
              </a:rPr>
              <a:t>2. </a:t>
            </a:r>
            <a:r>
              <a:rPr sz="2000" b="1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% Contribution: </a:t>
            </a:r>
            <a:r>
              <a:rPr sz="2000" b="0" i="0" u="none" strike="noStrike" cap="none" baseline="0">
                <a:ln>
                  <a:noFill/>
                </a:ln>
                <a:solidFill>
                  <a:schemeClr val="tx1"/>
                </a:solidFill>
                <a:latin typeface="+mn-lt"/>
                <a:ea typeface="+mn-lt"/>
                <a:cs typeface="+mn-lt"/>
              </a:rPr>
              <a:t>Enter a % of contribution for each member that should add up to 100% for the team.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000" b="1" i="0" u="none" strike="noStrike" cap="none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rPr>
              <a:t>3. Comments (optional):</a:t>
            </a:r>
            <a:r>
              <a:rPr sz="2000" b="0" i="0" u="none" strike="noStrike" cap="none" baseline="0">
                <a:ln>
                  <a:noFill/>
                </a:ln>
                <a:solidFill>
                  <a:srgbClr val="000000"/>
                </a:solidFill>
                <a:latin typeface="+mn-lt"/>
                <a:ea typeface="+mn-lt"/>
                <a:cs typeface="+mn-lt"/>
              </a:rPr>
              <a:t> Add a comment if needed to support your indication of the % contribution. </a:t>
            </a:r>
            <a:endParaRPr sz="2000" b="0" i="0" u="none" strike="noStrike" cap="none" baseline="0">
              <a:ln>
                <a:noFill/>
              </a:ln>
              <a:solidFill>
                <a:schemeClr val="tx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91439" y="214337"/>
            <a:ext cx="11978641" cy="46166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sz="2400">
                <a:solidFill>
                  <a:schemeClr val="bg1"/>
                </a:solidFill>
              </a:rPr>
              <a:t>GROUPWORK MANAGEMENT DISCLAIMER</a:t>
            </a:r>
            <a:endParaRPr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WPS 文字</Application>
  <PresentationFormat>Widescreen</PresentationFormat>
  <Paragraphs>112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Helvetica Neue</vt:lpstr>
      <vt:lpstr>Aptos Display</vt:lpstr>
      <vt:lpstr>等线 Light</vt:lpstr>
      <vt:lpstr>汉仪中等线KW</vt:lpstr>
      <vt:lpstr>宋体</vt:lpstr>
      <vt:lpstr>汉仪书宋二KW</vt:lpstr>
      <vt:lpstr>Aptos</vt:lpstr>
      <vt:lpstr>等线</vt:lpstr>
      <vt:lpstr>微软雅黑</vt:lpstr>
      <vt:lpstr>汉仪旗黑</vt:lpstr>
      <vt:lpstr>Arial Unicode MS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Lin</dc:creator>
  <cp:lastModifiedBy>夏竹猗</cp:lastModifiedBy>
  <cp:revision>7</cp:revision>
  <dcterms:created xsi:type="dcterms:W3CDTF">2026-10-17T23:43:29Z</dcterms:created>
  <dcterms:modified xsi:type="dcterms:W3CDTF">2026-10-17T23:43:29Z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762319BCD747D2F44903D46A60928062_42</vt:lpwstr>
  </property>
  <property fmtid="{D5CDD505-2E9C-101B-9397-08002B2CF9AE}" pid="3" name="KSOProductBuildVer">
    <vt:lpwstr>2052-12.1.22218.22218</vt:lpwstr>
  </property>
</Properties>
</file>